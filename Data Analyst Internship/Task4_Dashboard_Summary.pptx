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F6B63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Sep '13</c:v>
                </c:pt>
                <c:pt idx="1">
                  <c:v>Oct '13</c:v>
                </c:pt>
                <c:pt idx="2">
                  <c:v>Nov '13</c:v>
                </c:pt>
                <c:pt idx="3">
                  <c:v>Dec '13</c:v>
                </c:pt>
                <c:pt idx="4">
                  <c:v>Jan '14</c:v>
                </c:pt>
                <c:pt idx="5">
                  <c:v>Feb '14</c:v>
                </c:pt>
                <c:pt idx="6">
                  <c:v>Mar '14</c:v>
                </c:pt>
                <c:pt idx="7">
                  <c:v>Apr '14</c:v>
                </c:pt>
                <c:pt idx="8">
                  <c:v>May '14</c:v>
                </c:pt>
                <c:pt idx="9">
                  <c:v>Jun '14</c:v>
                </c:pt>
                <c:pt idx="10">
                  <c:v>Jul '14</c:v>
                </c:pt>
                <c:pt idx="11">
                  <c:v>Aug '14</c:v>
                </c:pt>
                <c:pt idx="12">
                  <c:v>Sep '14</c:v>
                </c:pt>
                <c:pt idx="13">
                  <c:v>Oct '14</c:v>
                </c:pt>
                <c:pt idx="14">
                  <c:v>Nov '14</c:v>
                </c:pt>
                <c:pt idx="15">
                  <c:v>Dec '14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4484000</c:v>
                </c:pt>
                <c:pt idx="1">
                  <c:v>9295611</c:v>
                </c:pt>
                <c:pt idx="2">
                  <c:v>7267203</c:v>
                </c:pt>
                <c:pt idx="3">
                  <c:v>5368441</c:v>
                </c:pt>
                <c:pt idx="4">
                  <c:v>6607762</c:v>
                </c:pt>
                <c:pt idx="5">
                  <c:v>7297531</c:v>
                </c:pt>
                <c:pt idx="6">
                  <c:v>5586860</c:v>
                </c:pt>
                <c:pt idx="7">
                  <c:v>6964775</c:v>
                </c:pt>
                <c:pt idx="8">
                  <c:v>6210211</c:v>
                </c:pt>
                <c:pt idx="9">
                  <c:v>9518894</c:v>
                </c:pt>
                <c:pt idx="10">
                  <c:v>8102920</c:v>
                </c:pt>
                <c:pt idx="11">
                  <c:v>5864622</c:v>
                </c:pt>
                <c:pt idx="12">
                  <c:v>6398697</c:v>
                </c:pt>
                <c:pt idx="13">
                  <c:v>12375820</c:v>
                </c:pt>
                <c:pt idx="14">
                  <c:v>5384214</c:v>
                </c:pt>
                <c:pt idx="15">
                  <c:v>11998788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38-4824-A366-91AE983CF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Sep '13</c:v>
                </c:pt>
                <c:pt idx="1">
                  <c:v>Oct '13</c:v>
                </c:pt>
                <c:pt idx="2">
                  <c:v>Nov '13</c:v>
                </c:pt>
                <c:pt idx="3">
                  <c:v>Dec '13</c:v>
                </c:pt>
                <c:pt idx="4">
                  <c:v>Jan '14</c:v>
                </c:pt>
                <c:pt idx="5">
                  <c:v>Feb '14</c:v>
                </c:pt>
                <c:pt idx="6">
                  <c:v>Mar '14</c:v>
                </c:pt>
                <c:pt idx="7">
                  <c:v>Apr '14</c:v>
                </c:pt>
                <c:pt idx="8">
                  <c:v>May '14</c:v>
                </c:pt>
                <c:pt idx="9">
                  <c:v>Jun '14</c:v>
                </c:pt>
                <c:pt idx="10">
                  <c:v>Jul '14</c:v>
                </c:pt>
                <c:pt idx="11">
                  <c:v>Aug '14</c:v>
                </c:pt>
                <c:pt idx="12">
                  <c:v>Sep '14</c:v>
                </c:pt>
                <c:pt idx="13">
                  <c:v>Oct '14</c:v>
                </c:pt>
                <c:pt idx="14">
                  <c:v>Nov '14</c:v>
                </c:pt>
                <c:pt idx="15">
                  <c:v>Dec '14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763603</c:v>
                </c:pt>
                <c:pt idx="1">
                  <c:v>1657795</c:v>
                </c:pt>
                <c:pt idx="2">
                  <c:v>765502</c:v>
                </c:pt>
                <c:pt idx="3">
                  <c:v>691564</c:v>
                </c:pt>
                <c:pt idx="4">
                  <c:v>814029</c:v>
                </c:pt>
                <c:pt idx="5">
                  <c:v>1148547</c:v>
                </c:pt>
                <c:pt idx="6">
                  <c:v>669867</c:v>
                </c:pt>
                <c:pt idx="7">
                  <c:v>929985</c:v>
                </c:pt>
                <c:pt idx="8">
                  <c:v>828640</c:v>
                </c:pt>
                <c:pt idx="9">
                  <c:v>1473754</c:v>
                </c:pt>
                <c:pt idx="10">
                  <c:v>923866</c:v>
                </c:pt>
                <c:pt idx="11">
                  <c:v>791066</c:v>
                </c:pt>
                <c:pt idx="12">
                  <c:v>1023132</c:v>
                </c:pt>
                <c:pt idx="13">
                  <c:v>1781986</c:v>
                </c:pt>
                <c:pt idx="14">
                  <c:v>604600</c:v>
                </c:pt>
                <c:pt idx="15">
                  <c:v>2025766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38-4824-A366-91AE983CF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4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7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6707D"/>
                    </a:solidFill>
                    <a:latin typeface="Arial"/>
                  </a:rPr>
                  <a:t>Sales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7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6707D"/>
                    </a:solidFill>
                    <a:latin typeface="Arial"/>
                  </a:rPr>
                  <a:t>Profit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4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0F6B6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Enterprise</c:v>
                </c:pt>
                <c:pt idx="3">
                  <c:v>Midmarket</c:v>
                </c:pt>
                <c:pt idx="4">
                  <c:v>Channel Partners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52.5</c:v>
                </c:pt>
                <c:pt idx="1">
                  <c:v>42.4</c:v>
                </c:pt>
                <c:pt idx="2">
                  <c:v>19.600000000000001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5F-4BEB-8F3B-9DCD64BF49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Government</c:v>
                </c:pt>
                <c:pt idx="1">
                  <c:v>Small Business</c:v>
                </c:pt>
                <c:pt idx="2">
                  <c:v>Enterprise</c:v>
                </c:pt>
                <c:pt idx="3">
                  <c:v>Midmarket</c:v>
                </c:pt>
                <c:pt idx="4">
                  <c:v>Channel Partners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11.4</c:v>
                </c:pt>
                <c:pt idx="1">
                  <c:v>4.0999999999999996</c:v>
                </c:pt>
                <c:pt idx="2">
                  <c:v>-0.6</c:v>
                </c:pt>
                <c:pt idx="3">
                  <c:v>0.7</c:v>
                </c:pt>
                <c:pt idx="4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5F-4BEB-8F3B-9DCD64BF4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4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7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6707D"/>
                    </a:solidFill>
                    <a:latin typeface="Arial"/>
                  </a:rPr>
                  <a:t>$ 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024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0F6B6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20.5</c:v>
                </c:pt>
                <c:pt idx="2">
                  <c:v>18.3</c:v>
                </c:pt>
                <c:pt idx="3">
                  <c:v>17.7</c:v>
                </c:pt>
                <c:pt idx="4">
                  <c:v>15.4</c:v>
                </c:pt>
                <c:pt idx="5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AA-45B2-8E6C-8E7CFC75DE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  <c:pt idx="5">
                  <c:v>Carretera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</c:v>
                </c:pt>
                <c:pt idx="1">
                  <c:v>3.03</c:v>
                </c:pt>
                <c:pt idx="2">
                  <c:v>2.31</c:v>
                </c:pt>
                <c:pt idx="3">
                  <c:v>2.81</c:v>
                </c:pt>
                <c:pt idx="4">
                  <c:v>2.11</c:v>
                </c:pt>
                <c:pt idx="5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AA-45B2-8E6C-8E7CFC75D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4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7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6707D"/>
                    </a:solidFill>
                    <a:latin typeface="Arial"/>
                  </a:rPr>
                  <a:t>$ 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024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0F6B6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25.03</c:v>
                </c:pt>
                <c:pt idx="1">
                  <c:v>24.89</c:v>
                </c:pt>
                <c:pt idx="2">
                  <c:v>24.35</c:v>
                </c:pt>
                <c:pt idx="3">
                  <c:v>23.51</c:v>
                </c:pt>
                <c:pt idx="4">
                  <c:v>20.95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04-49C7-8EE8-BC438B7A30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Mexico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3.53</c:v>
                </c:pt>
                <c:pt idx="2">
                  <c:v>3.78</c:v>
                </c:pt>
                <c:pt idx="3">
                  <c:v>3.68</c:v>
                </c:pt>
                <c:pt idx="4">
                  <c:v>2.91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04-49C7-8EE8-BC438B7A3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4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7D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6707D"/>
                    </a:solidFill>
                    <a:latin typeface="Arial"/>
                  </a:rPr>
                  <a:t>$ 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1E4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024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86247"/>
            <a:ext cx="10424160" cy="2313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Sales &amp; Financial Performance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965837" y="2011680"/>
            <a:ext cx="66949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for business stakeholders — KPIs, trends,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geographic performance across the Sales &amp; Financial Sample dataset.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34107" y="4188350"/>
            <a:ext cx="6496215" cy="1190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</a:t>
            </a:r>
            <a:r>
              <a:rPr lang="en-US" sz="13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Elevate Labs</a:t>
            </a:r>
          </a:p>
          <a:p>
            <a:pPr marL="0" indent="0">
              <a:buNone/>
            </a:pPr>
            <a:endParaRPr lang="en-US" sz="1300" dirty="0">
              <a:solidFill>
                <a:srgbClr val="8FA6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Naveen Sai Kumar </a:t>
            </a:r>
            <a:r>
              <a:rPr lang="en-US" sz="1300" dirty="0" err="1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turns raw sales and financial records into decisions a business stakeholder can act on — the right KPIs, filters, and a consistent visual language.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Financial Sample — 700 transaction records across 5 segments, 6 products, 5 countries, spanning Sep 2013 – Dec 2014.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279392"/>
            <a:ext cx="4663440" cy="0"/>
          </a:xfrm>
          <a:prstGeom prst="line">
            <a:avLst/>
          </a:prstGeom>
          <a:noFill/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700016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built as a web app (Chart.js) with the same design goals as Power BI / Tableau: slicers, cards, and native filtering — free and shareable as a single HTML file.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35608"/>
            <a:ext cx="310896" cy="310896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1435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389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4 filterable views, slicers for year / segment / country / product.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487168"/>
            <a:ext cx="310896" cy="310896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441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 Summary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— objective, KPIs, and key findings for stakeholders.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38728"/>
            <a:ext cx="310896" cy="310896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4930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file, dataset, and README documenting the approach.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dataset, Sep 2013 – Dec 2014, all segments and countries combined.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" cy="1737360"/>
          </a:xfrm>
          <a:prstGeom prst="rect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54864" cy="17373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$16.9M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54864" cy="1737360"/>
          </a:xfrm>
          <a:prstGeom prst="rect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379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92024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89720" y="1920240"/>
            <a:ext cx="54864" cy="17373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18320" y="2148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41832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187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is the largest segment by both sales and profit — a natural focus for account growth.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generates meaningful sales but posts a net loss overall — see Segment Performance for detail.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is the best-selling and most profitable product line, ahead of the next product by ~60% in profit.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&amp; Profit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view — the core of the dashboard's Trends tab, with month-over-month growth alongside it.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aggregation across all segments, products, and countries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Dashboard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Performance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201168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leads on both sales ($52.5M) and profit ($11.4M) — over two-thirds of total profit.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is the third-largest segment by sales but the only one with negative profit — discounting or cost structure is worth investigating.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is a solid, consistent profit contributor at a lower sales volume than Government.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PRODUCT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189720" y="20574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89720" y="2057400"/>
            <a:ext cx="1574482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0" y="20574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26680" y="2468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89720" y="25146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189720" y="2514600"/>
            <a:ext cx="1607058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26680" y="25146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89720" y="29718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189720" y="2971800"/>
            <a:ext cx="1368171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26680" y="29718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3383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89720" y="34290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189720" y="3429000"/>
            <a:ext cx="1726502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26680" y="34290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26680" y="3840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89720" y="38862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89720" y="3886200"/>
            <a:ext cx="1487614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726680" y="38862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26680" y="4297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Carretera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189720" y="4343400"/>
            <a:ext cx="1737360" cy="146304"/>
          </a:xfrm>
          <a:prstGeom prst="roundRect">
            <a:avLst>
              <a:gd name="adj" fmla="val 12500"/>
            </a:avLst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189720" y="4343400"/>
            <a:ext cx="1433322" cy="146304"/>
          </a:xfrm>
          <a:prstGeom prst="roundRect">
            <a:avLst>
              <a:gd name="adj" fmla="val 1250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726680" y="43434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26680" y="4892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 converts sales to profit most efficiently (15.9%); Velo trails the group at 12.6%.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Country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201168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evenly spread across all five markets — no single country exceeds 21% of total sales.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leads on profit despite ranking third in sales — the best sales-to-profit conversion in the portfolio.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has the lowest sales and profit, making it the clearest candidate for growth investment.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from the mini-guide is built into the interactive dashboard delivered alongside this deck.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365760" cy="365760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8836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that matter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Units, and Margin surfaced as cards on every view, plus a scrolling ticker of headline stats.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938528"/>
            <a:ext cx="365760" cy="365760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8836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 &amp; filters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Segment, Country, and Product dropdowns recompute every chart and table instantly, with one-click reset.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538728"/>
            <a:ext cx="365760" cy="365760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4838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Trends tab tracks monthly sales, profit, and units, plus month-over-month growth.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33375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3538728"/>
            <a:ext cx="365760" cy="365760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4838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color theme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38404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navy / teal / gold palette is used across every chart, card, and table for visual consistency.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724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0840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4406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63640" y="49377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4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492240" y="5138928"/>
            <a:ext cx="365760" cy="365760"/>
          </a:xfrm>
          <a:prstGeom prst="ellipse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08406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detail tables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4406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country tables rank contributors with in-line bar indicators for fast scanning.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240279"/>
            <a:ext cx="10058400" cy="1377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</a:rPr>
              <a:t>				THANK YOU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/>
              <a:t>T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655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Naveen Sai Kumar</cp:lastModifiedBy>
  <cp:revision>5</cp:revision>
  <dcterms:created xsi:type="dcterms:W3CDTF">2026-07-28T06:22:07Z</dcterms:created>
  <dcterms:modified xsi:type="dcterms:W3CDTF">2026-07-28T12:42:53Z</dcterms:modified>
</cp:coreProperties>
</file>